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GPIW 2026 SUBMISSION  ·  TRACK A (TRL 1–3)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21488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AquaGuardian AI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D3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closed-loop engineering platform that simulates, stress-tests, and validates every water-infrastructure decision before it reaches the physical system.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2743200" cy="0"/>
          </a:xfrm>
          <a:prstGeom prst="line">
            <a:avLst/>
          </a:prstGeom>
          <a:noFill/>
          <a:ln w="25400">
            <a:solidFill>
              <a:srgbClr val="35A79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892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Digitalisation, Automation and Smart Water Management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 Abdelmogood  ·  Solo Founder, Embedded &amp; Physical-AI Developer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92640" y="1097280"/>
            <a:ext cx="109728" cy="109728"/>
          </a:xfrm>
          <a:prstGeom prst="ellipse">
            <a:avLst/>
          </a:prstGeom>
          <a:solidFill>
            <a:srgbClr val="35A79B"/>
          </a:solidFill>
          <a:ln w="12700">
            <a:solidFill>
              <a:srgbClr val="35A79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0" y="822960"/>
            <a:ext cx="109728" cy="109728"/>
          </a:xfrm>
          <a:prstGeom prst="ellipse">
            <a:avLst/>
          </a:prstGeom>
          <a:solidFill>
            <a:srgbClr val="35A79B"/>
          </a:solidFill>
          <a:ln w="12700">
            <a:solidFill>
              <a:srgbClr val="35A79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47120" y="1463040"/>
            <a:ext cx="109728" cy="109728"/>
          </a:xfrm>
          <a:prstGeom prst="ellipse">
            <a:avLst/>
          </a:prstGeom>
          <a:solidFill>
            <a:srgbClr val="35A79B"/>
          </a:solidFill>
          <a:ln w="12700">
            <a:solidFill>
              <a:srgbClr val="35A79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32720" y="1828800"/>
            <a:ext cx="109728" cy="109728"/>
          </a:xfrm>
          <a:prstGeom prst="ellipse">
            <a:avLst/>
          </a:prstGeom>
          <a:solidFill>
            <a:srgbClr val="35A79B"/>
          </a:solidFill>
          <a:ln w="12700">
            <a:solidFill>
              <a:srgbClr val="35A79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66960" y="2468880"/>
            <a:ext cx="109728" cy="109728"/>
          </a:xfrm>
          <a:prstGeom prst="ellipse">
            <a:avLst/>
          </a:prstGeom>
          <a:solidFill>
            <a:srgbClr val="35A79B"/>
          </a:solidFill>
          <a:ln w="12700">
            <a:solidFill>
              <a:srgbClr val="35A79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55680" y="2377440"/>
            <a:ext cx="109728" cy="109728"/>
          </a:xfrm>
          <a:prstGeom prst="ellipse">
            <a:avLst/>
          </a:prstGeom>
          <a:solidFill>
            <a:srgbClr val="35A79B"/>
          </a:solidFill>
          <a:ln w="12700">
            <a:solidFill>
              <a:srgbClr val="35A79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47504" y="877824"/>
            <a:ext cx="914400" cy="274320"/>
          </a:xfrm>
          <a:prstGeom prst="line">
            <a:avLst/>
          </a:prstGeom>
          <a:noFill/>
          <a:ln w="9525">
            <a:solidFill>
              <a:srgbClr val="35A79B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47504" y="1152144"/>
            <a:ext cx="640080" cy="731520"/>
          </a:xfrm>
          <a:prstGeom prst="line">
            <a:avLst/>
          </a:prstGeom>
          <a:noFill/>
          <a:ln w="9525">
            <a:solidFill>
              <a:srgbClr val="35A79B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61904" y="877824"/>
            <a:ext cx="640080" cy="640080"/>
          </a:xfrm>
          <a:prstGeom prst="line">
            <a:avLst/>
          </a:prstGeom>
          <a:noFill/>
          <a:ln w="9525">
            <a:solidFill>
              <a:srgbClr val="35A79B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10544" y="1517904"/>
            <a:ext cx="91440" cy="914400"/>
          </a:xfrm>
          <a:prstGeom prst="line">
            <a:avLst/>
          </a:prstGeom>
          <a:noFill/>
          <a:ln w="9525">
            <a:solidFill>
              <a:srgbClr val="35A79B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21824" y="1883664"/>
            <a:ext cx="365760" cy="640080"/>
          </a:xfrm>
          <a:prstGeom prst="line">
            <a:avLst/>
          </a:prstGeom>
          <a:noFill/>
          <a:ln w="9525">
            <a:solidFill>
              <a:srgbClr val="35A79B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21824" y="2432304"/>
            <a:ext cx="1188720" cy="91440"/>
          </a:xfrm>
          <a:prstGeom prst="line">
            <a:avLst/>
          </a:prstGeom>
          <a:noFill/>
          <a:ln w="9525">
            <a:solidFill>
              <a:srgbClr val="35A79B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21824" y="1517904"/>
            <a:ext cx="1280160" cy="1005840"/>
          </a:xfrm>
          <a:prstGeom prst="line">
            <a:avLst/>
          </a:prstGeom>
          <a:noFill/>
          <a:ln w="9525">
            <a:solidFill>
              <a:srgbClr val="35A79B">
                <a:alpha val="6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infrastructure is still reactive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F1F7F6"/>
          </a:solidFill>
          <a:ln w="12700">
            <a:solidFill>
              <a:srgbClr val="D9E6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703320" y="1691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only after significant water loss has already occurred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F1F7F6"/>
          </a:solidFill>
          <a:ln w="12700">
            <a:solidFill>
              <a:srgbClr val="D9E6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560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failures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0332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after service interruption, not before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F1F7F6"/>
          </a:solidFill>
          <a:ln w="12700">
            <a:solidFill>
              <a:srgbClr val="D9E6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429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03320" y="34290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fixed schedules instead of real plant water stress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F1F7F6"/>
          </a:solidFill>
          <a:ln w="12700">
            <a:solidFill>
              <a:srgbClr val="D9E6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297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03320" y="4297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executed without simulating their consequences first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532120"/>
            <a:ext cx="11064240" cy="868680"/>
          </a:xfrm>
          <a:prstGeom prst="rect">
            <a:avLst/>
          </a:prstGeom>
          <a:solidFill>
            <a:srgbClr val="081A1F"/>
          </a:solidFill>
          <a:ln w="12700">
            <a:solidFill>
              <a:srgbClr val="081A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5321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</a:t>
            </a:r>
            <a:pPr indent="0" marL="0">
              <a:buNone/>
            </a:pPr>
            <a:r>
              <a:rPr lang="en-US" sz="1600" dirty="0">
                <a:solidFill>
                  <a:srgbClr val="9F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1600" strike="sngStrike" dirty="0">
                <a:solidFill>
                  <a:srgbClr val="9F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React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is the wrong loop.  </a:t>
            </a:r>
            <a:pPr indent="0" marL="0">
              <a:buNone/>
            </a:pPr>
            <a:r>
              <a:rPr lang="en-US" sz="1600" b="1" dirty="0">
                <a:solidFill>
                  <a:srgbClr val="8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→ Prevent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one AquaGuardian runs.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INNOVATION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Before Execution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action is simulated, stress-tested, and validated in a digital twin before it ever reaches a valve, pump, or drone.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5840" y="3383280"/>
            <a:ext cx="1082040" cy="0"/>
          </a:xfrm>
          <a:prstGeom prst="line">
            <a:avLst/>
          </a:prstGeom>
          <a:noFill/>
          <a:ln w="25400">
            <a:solidFill>
              <a:srgbClr val="2A4E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19400" y="3383280"/>
            <a:ext cx="1082040" cy="0"/>
          </a:xfrm>
          <a:prstGeom prst="line">
            <a:avLst/>
          </a:prstGeom>
          <a:noFill/>
          <a:ln w="25400">
            <a:solidFill>
              <a:srgbClr val="2A4E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32960" y="3383280"/>
            <a:ext cx="1082040" cy="0"/>
          </a:xfrm>
          <a:prstGeom prst="line">
            <a:avLst/>
          </a:prstGeom>
          <a:noFill/>
          <a:ln w="25400">
            <a:solidFill>
              <a:srgbClr val="2A4E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3383280"/>
            <a:ext cx="1082040" cy="0"/>
          </a:xfrm>
          <a:prstGeom prst="line">
            <a:avLst/>
          </a:prstGeom>
          <a:noFill/>
          <a:ln w="25400">
            <a:solidFill>
              <a:srgbClr val="2A4E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60080" y="3383280"/>
            <a:ext cx="1082040" cy="0"/>
          </a:xfrm>
          <a:prstGeom prst="line">
            <a:avLst/>
          </a:prstGeom>
          <a:noFill/>
          <a:ln w="25400">
            <a:solidFill>
              <a:srgbClr val="2A4E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73640" y="3383280"/>
            <a:ext cx="1082040" cy="0"/>
          </a:xfrm>
          <a:prstGeom prst="line">
            <a:avLst/>
          </a:prstGeom>
          <a:noFill/>
          <a:ln w="25400">
            <a:solidFill>
              <a:srgbClr val="2A4E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3017520"/>
            <a:ext cx="731520" cy="731520"/>
          </a:xfrm>
          <a:prstGeom prst="ellipse">
            <a:avLst/>
          </a:prstGeom>
          <a:solidFill>
            <a:srgbClr val="173840"/>
          </a:solidFill>
          <a:ln w="25400">
            <a:solidFill>
              <a:srgbClr val="2A4E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017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" y="3840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087880" y="3017520"/>
            <a:ext cx="731520" cy="731520"/>
          </a:xfrm>
          <a:prstGeom prst="ellipse">
            <a:avLst/>
          </a:prstGeom>
          <a:solidFill>
            <a:srgbClr val="173840"/>
          </a:solidFill>
          <a:ln w="25400">
            <a:solidFill>
              <a:srgbClr val="2A4E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87880" y="3017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59280" y="3840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901440" y="3017520"/>
            <a:ext cx="731520" cy="731520"/>
          </a:xfrm>
          <a:prstGeom prst="ellipse">
            <a:avLst/>
          </a:prstGeom>
          <a:solidFill>
            <a:srgbClr val="173840"/>
          </a:solidFill>
          <a:ln w="25400">
            <a:solidFill>
              <a:srgbClr val="2A4E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01440" y="3017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72840" y="3840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15000" y="3017520"/>
            <a:ext cx="731520" cy="731520"/>
          </a:xfrm>
          <a:prstGeom prst="ellipse">
            <a:avLst/>
          </a:prstGeom>
          <a:solidFill>
            <a:srgbClr val="173840"/>
          </a:solidFill>
          <a:ln w="25400">
            <a:solidFill>
              <a:srgbClr val="2A4E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3017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0" y="3840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28560" y="3017520"/>
            <a:ext cx="731520" cy="731520"/>
          </a:xfrm>
          <a:prstGeom prst="ellipse">
            <a:avLst/>
          </a:prstGeom>
          <a:solidFill>
            <a:srgbClr val="173840"/>
          </a:solidFill>
          <a:ln w="25400">
            <a:solidFill>
              <a:srgbClr val="2A4E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28560" y="3017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299960" y="3840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342120" y="3017520"/>
            <a:ext cx="731520" cy="731520"/>
          </a:xfrm>
          <a:prstGeom prst="ellipse">
            <a:avLst/>
          </a:prstGeom>
          <a:solidFill>
            <a:srgbClr val="173840"/>
          </a:solidFill>
          <a:ln w="25400">
            <a:solidFill>
              <a:srgbClr val="2A4E5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42120" y="3017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13520" y="3840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1155680" y="3017520"/>
            <a:ext cx="731520" cy="731520"/>
          </a:xfrm>
          <a:prstGeom prst="ellipse">
            <a:avLst/>
          </a:prstGeom>
          <a:solidFill>
            <a:srgbClr val="35A79B"/>
          </a:solidFill>
          <a:ln w="25400">
            <a:solidFill>
              <a:srgbClr val="35A79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155680" y="3017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927080" y="3840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470916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0F272E"/>
          </a:solidFill>
          <a:ln w="12700">
            <a:solidFill>
              <a:srgbClr val="1E40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4846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A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plan fails Stress Test...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68680" y="51663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...it is rejected and automatically re-optimized, then re-tested — looping until it satisfies every constraint. Nothing reaches Execute unvalidated.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035040" y="470916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0F272E"/>
          </a:solidFill>
          <a:ln w="12700">
            <a:solidFill>
              <a:srgbClr val="1E404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4846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the innovation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63640" y="516636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anomaly detection alone — a validation discipline. Reactive systems act first and discover consequences later; AquaGuardian discovers consequences first.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FIT — DIGITALISATION, AUTOMATION &amp; SMART WATER MANAGEMENT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another monitoring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023360" cy="594360"/>
          </a:xfrm>
          <a:prstGeom prst="rect">
            <a:avLst/>
          </a:prstGeom>
          <a:solidFill>
            <a:srgbClr val="F1F7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663440" y="1600200"/>
            <a:ext cx="2468880" cy="594360"/>
          </a:xfrm>
          <a:prstGeom prst="rect">
            <a:avLst/>
          </a:prstGeom>
          <a:solidFill>
            <a:srgbClr val="F1F7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600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 / threshold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223760" y="1600200"/>
            <a:ext cx="2286000" cy="594360"/>
          </a:xfrm>
          <a:prstGeom prst="rect">
            <a:avLst/>
          </a:prstGeom>
          <a:solidFill>
            <a:srgbClr val="F1F7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0" y="16002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01200" y="1600200"/>
            <a:ext cx="2194560" cy="594360"/>
          </a:xfrm>
          <a:prstGeom prst="rect">
            <a:avLst/>
          </a:prstGeom>
          <a:solidFill>
            <a:srgbClr val="081A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0" y="16002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AquaGuardian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4023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6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19456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abnormal conditions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2194560"/>
            <a:ext cx="2468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6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1945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23760" y="2194560"/>
            <a:ext cx="2286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6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21945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601200" y="2194560"/>
            <a:ext cx="2194560" cy="566928"/>
          </a:xfrm>
          <a:prstGeom prst="rect">
            <a:avLst/>
          </a:prstGeom>
          <a:solidFill>
            <a:srgbClr val="E8F5F2"/>
          </a:solidFill>
          <a:ln w="9525">
            <a:solidFill>
              <a:srgbClr val="D9E6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0" y="21945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2761488"/>
            <a:ext cx="4023360" cy="566928"/>
          </a:xfrm>
          <a:prstGeom prst="rect">
            <a:avLst/>
          </a:prstGeom>
          <a:solidFill>
            <a:srgbClr val="F7FBFA"/>
          </a:solidFill>
          <a:ln w="9525">
            <a:solidFill>
              <a:srgbClr val="D9E6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76148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some failures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2761488"/>
            <a:ext cx="2468880" cy="566928"/>
          </a:xfrm>
          <a:prstGeom prst="rect">
            <a:avLst/>
          </a:prstGeom>
          <a:solidFill>
            <a:srgbClr val="F7FBFA"/>
          </a:solidFill>
          <a:ln w="9525">
            <a:solidFill>
              <a:srgbClr val="D9E6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7614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223760" y="2761488"/>
            <a:ext cx="2286000" cy="566928"/>
          </a:xfrm>
          <a:prstGeom prst="rect">
            <a:avLst/>
          </a:prstGeom>
          <a:solidFill>
            <a:srgbClr val="F7FBFA"/>
          </a:solidFill>
          <a:ln w="9525">
            <a:solidFill>
              <a:srgbClr val="D9E6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276148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601200" y="2761488"/>
            <a:ext cx="2194560" cy="566928"/>
          </a:xfrm>
          <a:prstGeom prst="rect">
            <a:avLst/>
          </a:prstGeom>
          <a:solidFill>
            <a:srgbClr val="E8F5F2"/>
          </a:solidFill>
          <a:ln w="9525">
            <a:solidFill>
              <a:srgbClr val="D9E6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0" y="276148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328416"/>
            <a:ext cx="4023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6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32841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candidate actions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663440" y="3328416"/>
            <a:ext cx="2468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6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32841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/ manual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223760" y="3328416"/>
            <a:ext cx="2286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6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0" y="332841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601200" y="3328416"/>
            <a:ext cx="2194560" cy="566928"/>
          </a:xfrm>
          <a:prstGeom prst="rect">
            <a:avLst/>
          </a:prstGeom>
          <a:solidFill>
            <a:srgbClr val="E8F5F2"/>
          </a:solidFill>
          <a:ln w="9525">
            <a:solidFill>
              <a:srgbClr val="D9E6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92640" y="332841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workflow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3895344"/>
            <a:ext cx="4023360" cy="566928"/>
          </a:xfrm>
          <a:prstGeom prst="rect">
            <a:avLst/>
          </a:prstGeom>
          <a:solidFill>
            <a:srgbClr val="F7FBFA"/>
          </a:solidFill>
          <a:ln w="9525">
            <a:solidFill>
              <a:srgbClr val="D9E6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89534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 before acting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663440" y="3895344"/>
            <a:ext cx="2468880" cy="566928"/>
          </a:xfrm>
          <a:prstGeom prst="rect">
            <a:avLst/>
          </a:prstGeom>
          <a:solidFill>
            <a:srgbClr val="F7FBFA"/>
          </a:solidFill>
          <a:ln w="9525">
            <a:solidFill>
              <a:srgbClr val="D9E6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8953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223760" y="3895344"/>
            <a:ext cx="2286000" cy="566928"/>
          </a:xfrm>
          <a:prstGeom prst="rect">
            <a:avLst/>
          </a:prstGeom>
          <a:solidFill>
            <a:srgbClr val="F7FBFA"/>
          </a:solidFill>
          <a:ln w="9525">
            <a:solidFill>
              <a:srgbClr val="D9E6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389534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601200" y="3895344"/>
            <a:ext cx="2194560" cy="566928"/>
          </a:xfrm>
          <a:prstGeom prst="rect">
            <a:avLst/>
          </a:prstGeom>
          <a:solidFill>
            <a:srgbClr val="E8F5F2"/>
          </a:solidFill>
          <a:ln w="9525">
            <a:solidFill>
              <a:srgbClr val="D9E6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92640" y="389534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workflow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48640" y="4462272"/>
            <a:ext cx="4023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6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446227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unsafe plans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663440" y="4462272"/>
            <a:ext cx="2468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6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446227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Operator-dependent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7223760" y="4462272"/>
            <a:ext cx="2286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E6E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0" y="44622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9601200" y="4462272"/>
            <a:ext cx="2194560" cy="566928"/>
          </a:xfrm>
          <a:prstGeom prst="rect">
            <a:avLst/>
          </a:prstGeom>
          <a:solidFill>
            <a:srgbClr val="E8F5F2"/>
          </a:solidFill>
          <a:ln w="9525">
            <a:solidFill>
              <a:srgbClr val="D9E6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92640" y="446227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policy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48640" y="5029200"/>
            <a:ext cx="4023360" cy="566928"/>
          </a:xfrm>
          <a:prstGeom prst="rect">
            <a:avLst/>
          </a:prstGeom>
          <a:solidFill>
            <a:srgbClr val="F7FBFA"/>
          </a:solidFill>
          <a:ln w="9525">
            <a:solidFill>
              <a:srgbClr val="D9E6E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50292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decision evidence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663440" y="5029200"/>
            <a:ext cx="2468880" cy="566928"/>
          </a:xfrm>
          <a:prstGeom prst="rect">
            <a:avLst/>
          </a:prstGeom>
          <a:solidFill>
            <a:srgbClr val="F7FBFA"/>
          </a:solidFill>
          <a:ln w="9525">
            <a:solidFill>
              <a:srgbClr val="D9E6E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0" y="50292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logs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7223760" y="5029200"/>
            <a:ext cx="2286000" cy="566928"/>
          </a:xfrm>
          <a:prstGeom prst="rect">
            <a:avLst/>
          </a:prstGeom>
          <a:solidFill>
            <a:srgbClr val="F7FBFA"/>
          </a:solidFill>
          <a:ln w="9525">
            <a:solidFill>
              <a:srgbClr val="D9E6E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15200" y="50292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9601200" y="5029200"/>
            <a:ext cx="2194560" cy="566928"/>
          </a:xfrm>
          <a:prstGeom prst="rect">
            <a:avLst/>
          </a:prstGeom>
          <a:solidFill>
            <a:srgbClr val="E8F5F2"/>
          </a:solidFill>
          <a:ln w="9525">
            <a:solidFill>
              <a:srgbClr val="D9E6E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692640" y="50292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trail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548640" y="58247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AquaGuardian does not replace SCADA, hydraulic modeling, or operators — it is a validation and decision-support layer that integrates with them.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layers, one validation discipline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1F7F6"/>
          </a:solidFill>
          <a:ln w="12700">
            <a:solidFill>
              <a:srgbClr val="D9E6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5A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76479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Sensors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846320" y="176479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quality, pressure, flow, soil, plant bio-signals, weather stations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1F7F6"/>
          </a:solidFill>
          <a:ln w="12700">
            <a:solidFill>
              <a:srgbClr val="D9E6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87752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5A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6609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Box Edge AI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846320" y="2660904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inference and fault detection — remains operational with no internet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83864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1F7F6"/>
          </a:solidFill>
          <a:ln w="12700">
            <a:solidFill>
              <a:srgbClr val="D9E6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483864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5A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355701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Digital Twin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846320" y="3557016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flow, pressure, pump performance, leak propagation, fire risk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79976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35A79B"/>
          </a:solidFill>
          <a:ln w="12700">
            <a:solidFill>
              <a:srgbClr val="35A79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379976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63040" y="445312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Engineering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846320" y="4453128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Simulates, stress-tests, optimizes, and validates before execution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276088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1F7F6"/>
          </a:solidFill>
          <a:ln w="12700">
            <a:solidFill>
              <a:srgbClr val="D9E6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276088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5A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63040" y="5349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Actions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846320" y="53492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leaks, reconfigures distribution, triggers fire prevention, notifies operators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EVIDENCE — LIVE WALKTHROUGH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rejected plan, re-optimized, then approved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pipeline leak, Sector 4 main 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28016" cy="658368"/>
          </a:xfrm>
          <a:prstGeom prst="roundRect">
            <a:avLst>
              <a:gd name="adj" fmla="val 14286"/>
            </a:avLst>
          </a:prstGeom>
          <a:solidFill>
            <a:srgbClr val="16323A"/>
          </a:solidFill>
          <a:ln w="12700">
            <a:solidFill>
              <a:srgbClr val="1632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01952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29000" y="1901952"/>
            <a:ext cx="8138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drop 2.31 → 1.62 bar; flow deviation +18.4%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28016" cy="658368"/>
          </a:xfrm>
          <a:prstGeom prst="roundRect">
            <a:avLst>
              <a:gd name="adj" fmla="val 14286"/>
            </a:avLst>
          </a:prstGeom>
          <a:solidFill>
            <a:srgbClr val="16323A"/>
          </a:solidFill>
          <a:ln w="12700">
            <a:solidFill>
              <a:srgbClr val="1632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633472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29000" y="2633472"/>
            <a:ext cx="8138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projects ~340 L/min loss if left open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128016" cy="658368"/>
          </a:xfrm>
          <a:prstGeom prst="roundRect">
            <a:avLst>
              <a:gd name="adj" fmla="val 14286"/>
            </a:avLst>
          </a:prstGeom>
          <a:solidFill>
            <a:srgbClr val="E8622C"/>
          </a:solidFill>
          <a:ln w="12700">
            <a:solidFill>
              <a:srgbClr val="E862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364992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 — REJECTED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3364992"/>
            <a:ext cx="8138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Valve 4A outright drops Sector 5 below minimum service pressure (1.1 bar &lt; 1.8 bar floor)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128016" cy="658368"/>
          </a:xfrm>
          <a:prstGeom prst="roundRect">
            <a:avLst>
              <a:gd name="adj" fmla="val 14286"/>
            </a:avLst>
          </a:prstGeom>
          <a:solidFill>
            <a:srgbClr val="16323A"/>
          </a:solidFill>
          <a:ln w="12700">
            <a:solidFill>
              <a:srgbClr val="1632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096512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4096512"/>
            <a:ext cx="8138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plan: partially close Valve 7, open the Valve 12 bypass to reroute supply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846320"/>
            <a:ext cx="128016" cy="658368"/>
          </a:xfrm>
          <a:prstGeom prst="roundRect">
            <a:avLst>
              <a:gd name="adj" fmla="val 14286"/>
            </a:avLst>
          </a:prstGeom>
          <a:solidFill>
            <a:srgbClr val="35A79B"/>
          </a:solidFill>
          <a:ln w="12700">
            <a:solidFill>
              <a:srgbClr val="35A79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828032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 — PASSED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9000" y="4828032"/>
            <a:ext cx="8138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5 pressure holds at 2.04 bar; leak segment fully isolated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577840"/>
            <a:ext cx="128016" cy="658368"/>
          </a:xfrm>
          <a:prstGeom prst="roundRect">
            <a:avLst>
              <a:gd name="adj" fmla="val 14286"/>
            </a:avLst>
          </a:prstGeom>
          <a:solidFill>
            <a:srgbClr val="16323A"/>
          </a:solidFill>
          <a:ln w="12700">
            <a:solidFill>
              <a:srgbClr val="1632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559552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29000" y="5559552"/>
            <a:ext cx="8138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Valve 4A, open Valve 12, throttle Valve 7 — operator notified with full decision trail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MEASURABILITY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Quantified against a reactive baseline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Averaged across five simulated water-risk scenarios, under four stress profiles each (nominal → extreme, with sensor noise and communication loss).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2356" y="237744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0F272E"/>
          </a:solidFill>
          <a:ln w="12700">
            <a:solidFill>
              <a:srgbClr val="1E40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5236" y="26060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FD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36676" y="36118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reduction in water loss vs. a reactive baseline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57116" y="237744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0F272E"/>
          </a:solidFill>
          <a:ln w="12700">
            <a:solidFill>
              <a:srgbClr val="1E4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9996" y="26060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FD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31436" y="36118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response delay (300s reactive vs. 0.25s closed-loop)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51876" y="237744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0F272E"/>
          </a:solidFill>
          <a:ln w="12700">
            <a:solidFill>
              <a:srgbClr val="1E40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4756" y="26060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FD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 → 100%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426196" y="36118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 pass rate: reactive baseline vs. AquaGuardian's selected plan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50292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7E9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PoC results generated by the included deterministic engine (aquaguardian/comparison.py) — not field-trial data. Per-scenario safety-risk deltas vary and are reported in full in docs/COMPARATIVE_VALIDATION.md, including one scenario where the nominal safety-risk score does not improve — disclosed rather than omitted.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EXCELLENCE — EDGE HARDWARE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sub-1ms decision claim, actually run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hexa_tpu_rt_sim — a bundled, independently built architecture simulator — is invoked live by the console, not cited from a spec sheet.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3474720"/>
          </a:xfrm>
          <a:prstGeom prst="roundRect">
            <a:avLst>
              <a:gd name="adj" fmla="val 2105"/>
            </a:avLst>
          </a:prstGeom>
          <a:solidFill>
            <a:srgbClr val="F1F7F6"/>
          </a:solidFill>
          <a:ln w="12700">
            <a:solidFill>
              <a:srgbClr val="D9E6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94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kernel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Water-hammer / pipe-burst trigger, 200 samples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5A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deadline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35A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425196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latency ~0.03ms against a 1ms hard deadline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520440" cy="3474720"/>
          </a:xfrm>
          <a:prstGeom prst="roundRect">
            <a:avLst>
              <a:gd name="adj" fmla="val 2105"/>
            </a:avLst>
          </a:prstGeom>
          <a:solidFill>
            <a:srgbClr val="F1F7F6"/>
          </a:solidFill>
          <a:ln w="12700">
            <a:solidFill>
              <a:srgbClr val="D9E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194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→ MEC network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0" y="2606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as 5G NR URLLC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32461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5A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p99 ≈ 4.2ms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72000" y="425196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 10ms SLA target, measured from the same run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1965960"/>
            <a:ext cx="3520440" cy="3474720"/>
          </a:xfrm>
          <a:prstGeom prst="roundRect">
            <a:avLst>
              <a:gd name="adj" fmla="val 2105"/>
            </a:avLst>
          </a:prstGeom>
          <a:solidFill>
            <a:srgbClr val="F1F7F6"/>
          </a:solidFill>
          <a:ln w="12700">
            <a:solidFill>
              <a:srgbClr val="D9E6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2194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 cognitive layer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366760" y="2606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 Forecaster + Squid Controller + Hermit-Crab veto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66760" y="32461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5A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veto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35A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enforced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366760" y="425196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full shutdown vetoed even at leak severity 0.8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ReflexKernel class and same BatForecaster / SquidController classes are reused, unmodified, from the project's aviation domain — evidence the architecture generalizes, not just a water-specific script.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READINESS — TRACK A, TRL 1–3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proven, and what is not claimed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8F5F2"/>
          </a:solidFill>
          <a:ln w="12700">
            <a:solidFill>
              <a:srgbClr val="35A79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at TRL 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deterministic software prototype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Digital-twin abstraction across 5 water-risk scenarios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for engine, API, and comparative evidence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Dockerized, reproducible execution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JSON evidence for every run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DEDE6"/>
          </a:solidFill>
          <a:ln w="12700">
            <a:solidFill>
              <a:srgbClr val="E862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claimed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1945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✗"/>
            </a:pPr>
            <a:r>
              <a:rPr lang="en-US" sz="12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deployment or hardware-in-the-loop validation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✗"/>
            </a:pPr>
            <a:r>
              <a:rPr lang="en-US" sz="12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or SCADA system integration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✗"/>
            </a:pPr>
            <a:r>
              <a:rPr lang="en-US" sz="12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against a real hydraulic network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✗"/>
            </a:pPr>
            <a:r>
              <a:rPr lang="en-US" sz="12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production actuator control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92240" y="50749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8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honestly as a Discovery-stage, TRL 3 proof of concept — the credible classification, with a defined path to TRL 4.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FEASIBILITY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to field validation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081A1F"/>
          </a:solidFill>
          <a:ln w="12700">
            <a:solidFill>
              <a:srgbClr val="081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D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TRL 3 — today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3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software PoC, reproducible tests, comparative evidence vs. reactive and detection-only baselines.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87368" y="347472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5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343400" y="164592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1F7F6"/>
          </a:solidFill>
          <a:ln w="12700">
            <a:solidFill>
              <a:srgbClr val="D9E6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874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5A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TRL 4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0" y="246888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real pressure, flow, soil-moisture and vibration sensors; replay recorded fault traces; calibrate the twin against measured behavior; verify fail-safe behavior under sensor noise, packet loss, and actuator unavailability.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82128" y="347472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5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138160" y="164592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1F7F6"/>
          </a:solidFill>
          <a:ln w="12700">
            <a:solidFill>
              <a:srgbClr val="D9E6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1874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5A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TRL 5–6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66760" y="246888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Shadow-mode pilot alongside an operating farm, irrigation district, or small utility — no actuator commands — followed by a limited supervised pilot on low-risk actions once acceptance criteria are met.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MARKET NEED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scale of problem GPIW itself has quantified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5A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2.1B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still lack access to safe drinking water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297680" y="15087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5A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20–30%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297680" y="21945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rise in global water demand by 2050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46720" y="15087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5A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046720" y="21945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freshwater is consumed by agriculture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(GPIW 2026 Applicant Guidelines / webinar materials)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11064240" cy="0"/>
          </a:xfrm>
          <a:prstGeom prst="line">
            <a:avLst/>
          </a:prstGeom>
          <a:noFill/>
          <a:ln w="12700">
            <a:solidFill>
              <a:srgbClr val="D9E6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657600"/>
            <a:ext cx="146304" cy="146304"/>
          </a:xfrm>
          <a:prstGeom prst="ellipse">
            <a:avLst/>
          </a:prstGeom>
          <a:solidFill>
            <a:srgbClr val="35A79B"/>
          </a:solidFill>
          <a:ln w="12700">
            <a:solidFill>
              <a:srgbClr val="35A79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53872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 — commercial farms &amp; irrigation districts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390448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 resilience, irrigation optimization, pump reliability, leak containment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146304" cy="146304"/>
          </a:xfrm>
          <a:prstGeom prst="ellipse">
            <a:avLst/>
          </a:prstGeom>
          <a:solidFill>
            <a:srgbClr val="35A79B"/>
          </a:solidFill>
          <a:ln w="12700">
            <a:solidFill>
              <a:srgbClr val="35A79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31596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— municipal distribution utilities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468172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Non-revenue-water reduction, pressure management, auditable incident response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212080"/>
            <a:ext cx="146304" cy="146304"/>
          </a:xfrm>
          <a:prstGeom prst="ellipse">
            <a:avLst/>
          </a:prstGeom>
          <a:solidFill>
            <a:srgbClr val="35A79B"/>
          </a:solidFill>
          <a:ln w="12700">
            <a:solidFill>
              <a:srgbClr val="35A79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09320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— reservoirs, dams, treatment facilities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545896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reliability, water-quality event handling, resilient local decision support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VIABILITY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buys, who uses, who approves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1F7F6"/>
          </a:solidFill>
          <a:ln w="12700">
            <a:solidFill>
              <a:srgbClr val="D9E6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buyer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owner, irrigation authority, or utility operations director / asset manager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1F7F6"/>
          </a:solidFill>
          <a:ln w="12700">
            <a:solidFill>
              <a:srgbClr val="D9E6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7830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user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6280" y="224028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Control-room operator, maintenance engineer, irrigation manager, field technician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1F7F6"/>
          </a:solidFill>
          <a:ln w="12700">
            <a:solidFill>
              <a:srgbClr val="D9E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17830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5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approver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75320" y="224028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Automation, cybersecurity, SCADA, or IT/OT integration lead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Positioning: a validation and decision-support layer, not a SCADA or hydraulic-model replacement — priced and adopted alongside existing systems, not instead of them.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11064240" cy="0"/>
          </a:xfrm>
          <a:prstGeom prst="line">
            <a:avLst/>
          </a:prstGeom>
          <a:noFill/>
          <a:ln w="12700">
            <a:solidFill>
              <a:srgbClr val="D9E6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7548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model and pricing hypotheses are documented in docs/BUSINESS_CASE.md and docs/REVENUE_MODEL.md — explicitly labeled as hypotheses pending design-partner validation, not confirmed contracts.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LIFE-CYCLE IMPACT &amp; DURABILITY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to fail safe, not just perform well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5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3520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avoidable water loss from undetected leaks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precision irrigation over fixed schedules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edge — no continuous cloud energy draw required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297680" y="16002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5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safety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297680" y="2057400"/>
            <a:ext cx="3520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vetoes on unsafe actions (e.g. abrupt valve slams) independent of urgency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Stress-tested under sensor noise and communication loss, not just nominal conditions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carries an auditable evidence trail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46720" y="16002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5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0" y="2057400"/>
            <a:ext cx="3520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claim of certified critical-infrastructure security yet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 and security roadmap explicitly documented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 behavior still to be verified against real hardware (TRL 4)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5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VIABILITY &amp; EXECUTION CAPACITY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389120"/>
          </a:xfrm>
          <a:prstGeom prst="roundRect">
            <a:avLst>
              <a:gd name="adj" fmla="val 1667"/>
            </a:avLst>
          </a:prstGeom>
          <a:solidFill>
            <a:srgbClr val="F1F7F6"/>
          </a:solidFill>
          <a:ln w="12700">
            <a:solidFill>
              <a:srgbClr val="D9E6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74520"/>
            <a:ext cx="822960" cy="822960"/>
          </a:xfrm>
          <a:prstGeom prst="ellipse">
            <a:avLst/>
          </a:prstGeom>
          <a:solidFill>
            <a:srgbClr val="35A79B"/>
          </a:solidFill>
          <a:ln w="12700">
            <a:solidFill>
              <a:srgbClr val="35A79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74520" y="1920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 Abdelmogood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74520" y="2286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Founder · Embedded &amp; Physical-AI Developer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28803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B.Sc. in GIS, Cartography and Information Systems, Helwan University. Practical work across embedded systems, edge AI, IoT, predictive maintenance, and autonomous-agent prototypes — C, Python, Linux, sensor integration, LoRa/oneM2M, FastAPI, Docker.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41605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prior work: IrrigaFire (smart irrigation &amp; wildfire prevention), Green Box (edge-AI predictive maintenance), Autex (automotive diagnostics), Black Dragon Studio (simulation &amp; stress-test generation).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5349240" cy="4389120"/>
          </a:xfrm>
          <a:prstGeom prst="roundRect">
            <a:avLst>
              <a:gd name="adj" fmla="val 1667"/>
            </a:avLst>
          </a:prstGeom>
          <a:solidFill>
            <a:srgbClr val="FDEDE6"/>
          </a:solidFill>
          <a:ln w="12700">
            <a:solidFill>
              <a:srgbClr val="E862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gaps — named, not hidden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22402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farm, irrigation operator, or utility design partner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hydraulic / water-domain engineer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OT cybersecurity reviewer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hardware integration or sensor supplier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evaluator for pilot measurement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53949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the partnerships a GPIW pilot pathway is designed to unlock.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AUDACIOUS YET ACHIEVABLE 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GPIW win unlocks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173840"/>
          </a:solidFill>
          <a:ln w="19050">
            <a:solidFill>
              <a:srgbClr val="35A79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8745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Hardware-in-the-loop validation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0" y="187452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real pressure, flow, soil-moisture and vibration sensors to close the TRL 3 → TRL 4 gap.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502920" cy="502920"/>
          </a:xfrm>
          <a:prstGeom prst="ellipse">
            <a:avLst/>
          </a:prstGeom>
          <a:solidFill>
            <a:srgbClr val="173840"/>
          </a:solidFill>
          <a:ln w="19050">
            <a:solidFill>
              <a:srgbClr val="35A79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7889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design-partner pilot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0" y="278892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Shadow-mode operation alongside a farm, irrigation district, or small utility in Saudi Arabia via the SWA–WTIIRA pathway.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502920" cy="502920"/>
          </a:xfrm>
          <a:prstGeom prst="ellipse">
            <a:avLst/>
          </a:prstGeom>
          <a:solidFill>
            <a:srgbClr val="173840"/>
          </a:solidFill>
          <a:ln w="19050">
            <a:solidFill>
              <a:srgbClr val="35A79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37033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expertise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486400" y="370332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hydraulic engineer and an OT security reviewer to pressure-test the platform against domain reality.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02920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0F272E"/>
          </a:solidFill>
          <a:ln w="12700">
            <a:solidFill>
              <a:srgbClr val="1E40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0292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7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is narrow by design: prove one water-domain decision loop with one design partner, then expand through repeatable integrations — not a promise to solve every water problem at once.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Predict. Prevent.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40080" y="32918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D3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another dashboard — an engineering discipline that refuses to act until it has proven the action is safe.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4297680"/>
            <a:ext cx="2743200" cy="0"/>
          </a:xfrm>
          <a:prstGeom prst="line">
            <a:avLst/>
          </a:prstGeom>
          <a:noFill/>
          <a:ln w="25400">
            <a:solidFill>
              <a:srgbClr val="35A79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7200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8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&amp; console:  </a:t>
            </a:r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D3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in this application's supporting materials
</a:t>
            </a:r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8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/ category:  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D3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(TRL 1–3) · Digitalisation, Automation and Smart Water Management
</a:t>
            </a:r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8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 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D3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 Abdelmogood, Solo Founder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2026-08-15T09:16:21Z</dcterms:created>
  <dcterms:modified xsi:type="dcterms:W3CDTF">2026-08-15T09:16:21Z</dcterms:modified>
</cp:coreProperties>
</file>